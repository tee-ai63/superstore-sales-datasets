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5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18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4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3579A8E2-820C-40FF-9F17-8316F5C99FA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E2974C-77CD-40E3-93B3-877D3BA6A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60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579A8E2-820C-40FF-9F17-8316F5C99FA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E2974C-77CD-40E3-93B3-877D3BA6A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520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579A8E2-820C-40FF-9F17-8316F5C99FA4}" type="datetimeFigureOut">
              <a:rPr lang="en-US" smtClean="0"/>
              <a:t>8/6/2026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BE2974C-77CD-40E3-93B3-877D3BA6A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4452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9A8E2-820C-40FF-9F17-8316F5C99FA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2974C-77CD-40E3-93B3-877D3BA6A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953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579A8E2-820C-40FF-9F17-8316F5C99FA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E2974C-77CD-40E3-93B3-877D3BA6AEB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873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579A8E2-820C-40FF-9F17-8316F5C99FA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E2974C-77CD-40E3-93B3-877D3BA6A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559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579A8E2-820C-40FF-9F17-8316F5C99FA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E2974C-77CD-40E3-93B3-877D3BA6AEB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5043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579A8E2-820C-40FF-9F17-8316F5C99FA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E2974C-77CD-40E3-93B3-877D3BA6AEB9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0689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579A8E2-820C-40FF-9F17-8316F5C99FA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E2974C-77CD-40E3-93B3-877D3BA6AEB9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0986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579A8E2-820C-40FF-9F17-8316F5C99FA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E2974C-77CD-40E3-93B3-877D3BA6AEB9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4366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3579A8E2-820C-40FF-9F17-8316F5C99FA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BE2974C-77CD-40E3-93B3-877D3BA6A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878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3579A8E2-820C-40FF-9F17-8316F5C99FA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3BE2974C-77CD-40E3-93B3-877D3BA6A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8601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3579A8E2-820C-40FF-9F17-8316F5C99FA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3BE2974C-77CD-40E3-93B3-877D3BA6A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6523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3579A8E2-820C-40FF-9F17-8316F5C99FA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3BE2974C-77CD-40E3-93B3-877D3BA6A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480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3579A8E2-820C-40FF-9F17-8316F5C99FA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3BE2974C-77CD-40E3-93B3-877D3BA6A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498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579A8E2-820C-40FF-9F17-8316F5C99FA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E2974C-77CD-40E3-93B3-877D3BA6AEB9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7120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579A8E2-820C-40FF-9F17-8316F5C99FA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E2974C-77CD-40E3-93B3-877D3BA6AEB9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16523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3579A8E2-820C-40FF-9F17-8316F5C99FA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E2974C-77CD-40E3-93B3-877D3BA6AEB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640102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579A8E2-820C-40FF-9F17-8316F5C99FA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E2974C-77CD-40E3-93B3-877D3BA6AEB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2676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579A8E2-820C-40FF-9F17-8316F5C99FA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E2974C-77CD-40E3-93B3-877D3BA6AEB9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41353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579A8E2-820C-40FF-9F17-8316F5C99FA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E2974C-77CD-40E3-93B3-877D3BA6A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2041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579A8E2-820C-40FF-9F17-8316F5C99FA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E2974C-77CD-40E3-93B3-877D3BA6A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4666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579A8E2-820C-40FF-9F17-8316F5C99FA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E2974C-77CD-40E3-93B3-877D3BA6A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6667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579A8E2-820C-40FF-9F17-8316F5C99FA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E2974C-77CD-40E3-93B3-877D3BA6A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5182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579A8E2-820C-40FF-9F17-8316F5C99FA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E2974C-77CD-40E3-93B3-877D3BA6A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34871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579A8E2-820C-40FF-9F17-8316F5C99FA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E2974C-77CD-40E3-93B3-877D3BA6A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099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579A8E2-820C-40FF-9F17-8316F5C99FA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E2974C-77CD-40E3-93B3-877D3BA6A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95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1143000"/>
            <a:ext cx="8683753" cy="30951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498848"/>
            <a:ext cx="6881457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6343955"/>
            <a:ext cx="2875064" cy="365125"/>
          </a:xfrm>
        </p:spPr>
        <p:txBody>
          <a:bodyPr/>
          <a:lstStyle/>
          <a:p>
            <a:fld id="{3579A8E2-820C-40FF-9F17-8316F5C99FA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2974C-77CD-40E3-93B3-877D3BA6A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7782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3579A8E2-820C-40FF-9F17-8316F5C99FA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3BE2974C-77CD-40E3-93B3-877D3BA6AEB9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36614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44" r:id="rId9"/>
    <p:sldLayoutId id="2147483945" r:id="rId10"/>
    <p:sldLayoutId id="2147483946" r:id="rId11"/>
    <p:sldLayoutId id="2147483947" r:id="rId12"/>
    <p:sldLayoutId id="2147483948" r:id="rId13"/>
    <p:sldLayoutId id="2147483949" r:id="rId14"/>
    <p:sldLayoutId id="2147483950" r:id="rId15"/>
    <p:sldLayoutId id="2147483951" r:id="rId16"/>
    <p:sldLayoutId id="2147483952" r:id="rId17"/>
    <p:sldLayoutId id="2147483953" r:id="rId18"/>
    <p:sldLayoutId id="2147483954" r:id="rId19"/>
    <p:sldLayoutId id="2147483955" r:id="rId20"/>
    <p:sldLayoutId id="2147483956" r:id="rId21"/>
    <p:sldLayoutId id="2147483957" r:id="rId22"/>
    <p:sldLayoutId id="2147483958" r:id="rId23"/>
    <p:sldLayoutId id="2147483959" r:id="rId24"/>
    <p:sldLayoutId id="2147483960" r:id="rId25"/>
    <p:sldLayoutId id="2147483961" r:id="rId26"/>
    <p:sldLayoutId id="2147483962" r:id="rId27"/>
    <p:sldLayoutId id="2147483963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AF842-DC56-8BC5-311F-179BDAEA1E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4470"/>
            <a:ext cx="9144000" cy="3467567"/>
          </a:xfrm>
        </p:spPr>
        <p:txBody>
          <a:bodyPr>
            <a:norm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Superstore Sales &amp; Profitability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BF25C6-A83E-E478-1D27-D0FA358758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Tess Kamau - AnalystLab Africa Data Analytics Internship — Week 4</a:t>
            </a:r>
          </a:p>
          <a:p>
            <a:r>
              <a:rPr lang="en-US" dirty="0"/>
              <a:t>06/08/2026</a:t>
            </a:r>
          </a:p>
        </p:txBody>
      </p:sp>
    </p:spTree>
    <p:extLst>
      <p:ext uri="{BB962C8B-B14F-4D97-AF65-F5344CB8AC3E}">
        <p14:creationId xmlns:p14="http://schemas.microsoft.com/office/powerpoint/2010/main" val="2633722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A0649-EA35-BC3E-BF8C-34D63FC7B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88EF0-2566-AB5E-086B-AA594025D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Superstore Sales Dataset (Kaggle)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US retail orders 2014-2017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9,994 rows / 21 columns / no missing values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Key fields: Sales, Profit, Discount, Category, Region, Order Date</a:t>
            </a:r>
          </a:p>
        </p:txBody>
      </p:sp>
    </p:spTree>
    <p:extLst>
      <p:ext uri="{BB962C8B-B14F-4D97-AF65-F5344CB8AC3E}">
        <p14:creationId xmlns:p14="http://schemas.microsoft.com/office/powerpoint/2010/main" val="387312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70ED2-B8D3-2005-E8B6-C78DAEF97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2A6EF-9FC4-B729-D92C-5A5261F58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Where is the business truly profitable, and where is it quietly losing money despite strong sales?</a:t>
            </a:r>
          </a:p>
        </p:txBody>
      </p:sp>
    </p:spTree>
    <p:extLst>
      <p:ext uri="{BB962C8B-B14F-4D97-AF65-F5344CB8AC3E}">
        <p14:creationId xmlns:p14="http://schemas.microsoft.com/office/powerpoint/2010/main" val="1947979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01B32-B9EF-A794-23DA-D6EFA16B4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KPIs Defined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54EEF-264D-20D5-6227-6898AA973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Total Sales: $2.30M</a:t>
            </a:r>
          </a:p>
          <a:p>
            <a:pPr lvl="0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Total Profit: $286.40K</a:t>
            </a:r>
          </a:p>
          <a:p>
            <a:pPr lvl="0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Total Orders: 5,009</a:t>
            </a:r>
          </a:p>
          <a:p>
            <a:pPr lvl="0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Profit Margin: 12.47%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123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F88AF-595F-197D-6C16-3B94C7255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3028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Dashboard 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F0765E-7873-BA4C-078F-C62E029C2A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6816" y="1658938"/>
            <a:ext cx="10570755" cy="492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844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E3466-AB72-60AA-EEEF-8C3D9CF1D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94734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Insight 1: Furniture Underperforms Despite High Sales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D7367-F0F9-2349-EB02-B47F2286C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9859"/>
            <a:ext cx="10515600" cy="4617104"/>
          </a:xfrm>
        </p:spPr>
        <p:txBody>
          <a:bodyPr/>
          <a:lstStyle/>
          <a:p>
            <a:pPr lvl="0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Furniture generated $741,999 in sales — nearly identical to Office Supplies ($719,047)</a:t>
            </a:r>
          </a:p>
          <a:p>
            <a:pPr lvl="0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Yet Furniture profit was just $18,451 — compared to $145,455 for Technology and $122,491 for Office Supplies</a:t>
            </a:r>
          </a:p>
          <a:p>
            <a:pPr lvl="0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Furniture's profit margin is far below the other two categories despite similar or higher sales volume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C93C3E-7816-F75A-CBDD-0CD1B229A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506" y="3261995"/>
            <a:ext cx="7003228" cy="3461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25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A5147-3A06-9675-5441-034D22CBF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Insight 2: Discounting Is Eroding Profit on Specific Sub-Categories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D2C43-91D5-9100-EDF6-C425EF794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541" y="1825625"/>
            <a:ext cx="10856259" cy="4667250"/>
          </a:xfrm>
        </p:spPr>
        <p:txBody>
          <a:bodyPr/>
          <a:lstStyle/>
          <a:p>
            <a:pPr lvl="0"/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Tables lost $17,725 despite generating $206,965 in sales — the single worst-performing sub-category</a:t>
            </a:r>
          </a:p>
          <a:p>
            <a:pPr lvl="0"/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Bookcases also operated at a loss, losing $3,473</a:t>
            </a:r>
          </a:p>
          <a:p>
            <a:pPr lvl="0"/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However, heavy discounting alone doesn't explain everything: Binders had the highest total discount of any sub-category ($567) yet remained profitable (+$30,222)</a:t>
            </a:r>
          </a:p>
          <a:p>
            <a:pPr lvl="0"/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This suggests Tables' losses come from a combination of steep discounting AND thin base margins — not discounting alone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6C8735-191D-EF82-ECC8-3653B8B22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056" y="3765176"/>
            <a:ext cx="7673228" cy="3092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195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A75F7-2CC9-4DC3-DA28-3784C7B76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79581"/>
          </a:xfrm>
        </p:spPr>
        <p:txBody>
          <a:bodyPr/>
          <a:lstStyle/>
          <a:p>
            <a:pPr algn="ctr"/>
            <a:r>
              <a:rPr lang="en-US" b="1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72E05-4299-E0D3-FFDD-4B1117B10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73306"/>
            <a:ext cx="10887635" cy="4919569"/>
          </a:xfrm>
        </p:spPr>
        <p:txBody>
          <a:bodyPr>
            <a:normAutofit/>
          </a:bodyPr>
          <a:lstStyle/>
          <a:p>
            <a:pPr lvl="0"/>
            <a:r>
              <a:rPr lang="en-US" b="1" dirty="0"/>
              <a:t>1.Cap discounts on Tables and Bookcases</a:t>
            </a:r>
            <a:r>
              <a:rPr lang="en-US" dirty="0"/>
              <a:t> — review and reduce discount thresholds on these two sub-categories specifically, since deep discounting is directly linked to their losses</a:t>
            </a:r>
          </a:p>
          <a:p>
            <a:pPr lvl="0"/>
            <a:r>
              <a:rPr lang="en-US" b="1" dirty="0"/>
              <a:t>2.Don't assume high discount = low profit everywhere</a:t>
            </a:r>
            <a:r>
              <a:rPr lang="en-US" dirty="0"/>
              <a:t> — Binders proves discounting can coexist with profitability; discount policy should be set per sub-category based on actual margin data, not a blanket rule</a:t>
            </a:r>
          </a:p>
          <a:p>
            <a:pPr lvl="0"/>
            <a:r>
              <a:rPr lang="en-US" b="1" dirty="0"/>
              <a:t>3.Investigate Furniture's cost structure</a:t>
            </a:r>
            <a:r>
              <a:rPr lang="en-US" dirty="0"/>
              <a:t> — since Furniture sells nearly as much as Office Supplies but earns 8x less profit, the issue may be supplier costs, shipping, or pricing — not just discounting — and deserves its own follow-up analysis</a:t>
            </a:r>
          </a:p>
          <a:p>
            <a:pPr lvl="0"/>
            <a:r>
              <a:rPr lang="en-US" b="1" dirty="0"/>
              <a:t>4.Double down on West and Technology</a:t>
            </a:r>
            <a:r>
              <a:rPr lang="en-US" dirty="0"/>
              <a:t> — both are the strongest performers (West by region, Technology by category) and are good candidates for continued or increased investment</a:t>
            </a:r>
          </a:p>
          <a:p>
            <a:pPr lvl="0"/>
            <a:r>
              <a:rPr lang="en-US" b="1" dirty="0"/>
              <a:t>Plan inventory and staffing around the November sales peak</a:t>
            </a:r>
            <a:r>
              <a:rPr lang="en-US" dirty="0"/>
              <a:t> — the seasonal trend shows a clear Q4 spike worth preparing for in advance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282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39DE2-791E-8DBE-4F45-57A86E937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16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Conclusions and 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3892D-B990-C7C9-AC1C-0DEA59924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411" y="1559858"/>
            <a:ext cx="11577917" cy="5096435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200" b="1" dirty="0"/>
              <a:t>Challenges faced</a:t>
            </a:r>
            <a:r>
              <a:rPr lang="en-US" sz="2200" dirty="0"/>
              <a:t> - Power BI's map visual repeatedly disabled itself and needed a full application restart to render correctly</a:t>
            </a:r>
          </a:p>
          <a:p>
            <a:pPr marL="0" lvl="0" indent="0">
              <a:buNone/>
            </a:pPr>
            <a:r>
              <a:rPr lang="en-US" sz="2200" b="1" dirty="0"/>
              <a:t>What I learned:</a:t>
            </a:r>
            <a:r>
              <a:rPr lang="en-US" sz="2200" dirty="0"/>
              <a:t> </a:t>
            </a:r>
          </a:p>
          <a:p>
            <a:pPr lvl="0"/>
            <a:r>
              <a:rPr lang="en-US" sz="2200" dirty="0"/>
              <a:t>How to translate raw sales data into KPIs that answer real business questions</a:t>
            </a:r>
          </a:p>
          <a:p>
            <a:pPr lvl="0"/>
            <a:r>
              <a:rPr lang="en-US" sz="2200" dirty="0"/>
              <a:t>The importance of testing assumptions with data discounting alone didn't explain Tables' losses, Binders proved that</a:t>
            </a:r>
          </a:p>
          <a:p>
            <a:pPr lvl="0"/>
            <a:r>
              <a:rPr lang="en-US" sz="2200" dirty="0"/>
              <a:t>Building interactive dashboards means designing for someone else to explore, not just presenting static findings</a:t>
            </a:r>
          </a:p>
          <a:p>
            <a:pPr lvl="0"/>
            <a:endParaRPr lang="en-US" sz="2200" dirty="0"/>
          </a:p>
          <a:p>
            <a:pPr lvl="0"/>
            <a:r>
              <a:rPr lang="en-US" sz="2200" b="1" dirty="0"/>
              <a:t>Github Link</a:t>
            </a:r>
            <a:r>
              <a:rPr lang="en-US" sz="2200" dirty="0"/>
              <a:t>: github.com/Tee-ai63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843254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112</TotalTime>
  <Words>484</Words>
  <Application>Microsoft Office PowerPoint</Application>
  <PresentationFormat>Widescreen</PresentationFormat>
  <Paragraphs>39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Cambria</vt:lpstr>
      <vt:lpstr>Felix Titling</vt:lpstr>
      <vt:lpstr>Goudy Old Style</vt:lpstr>
      <vt:lpstr>Archway</vt:lpstr>
      <vt:lpstr>Superstore Sales &amp; Profitability Analysis</vt:lpstr>
      <vt:lpstr>Dataset Overview</vt:lpstr>
      <vt:lpstr>Business Problem</vt:lpstr>
      <vt:lpstr>KPIs Defined</vt:lpstr>
      <vt:lpstr>Dashboard Overview</vt:lpstr>
      <vt:lpstr>Insight 1: Furniture Underperforms Despite High Sales</vt:lpstr>
      <vt:lpstr>Insight 2: Discounting Is Eroding Profit on Specific Sub-Categories</vt:lpstr>
      <vt:lpstr>Recommendations</vt:lpstr>
      <vt:lpstr>Conclusions and 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Tess Kamau</dc:creator>
  <cp:lastModifiedBy>Tess Kamau</cp:lastModifiedBy>
  <cp:revision>10</cp:revision>
  <dcterms:created xsi:type="dcterms:W3CDTF">2026-08-06T11:29:17Z</dcterms:created>
  <dcterms:modified xsi:type="dcterms:W3CDTF">2026-08-06T13:21:22Z</dcterms:modified>
</cp:coreProperties>
</file>